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25">
          <p15:clr>
            <a:srgbClr val="A4A3A4"/>
          </p15:clr>
        </p15:guide>
        <p15:guide id="2" pos="1209">
          <p15:clr>
            <a:srgbClr val="A4A3A4"/>
          </p15:clr>
        </p15:guide>
        <p15:guide id="3" pos="2955">
          <p15:clr>
            <a:srgbClr val="A4A3A4"/>
          </p15:clr>
        </p15:guide>
        <p15:guide id="4" pos="2071">
          <p15:clr>
            <a:srgbClr val="A4A3A4"/>
          </p15:clr>
        </p15:guide>
        <p15:guide id="5" pos="3840">
          <p15:clr>
            <a:srgbClr val="A4A3A4"/>
          </p15:clr>
        </p15:guide>
        <p15:guide id="6" pos="4702">
          <p15:clr>
            <a:srgbClr val="A4A3A4"/>
          </p15:clr>
        </p15:guide>
        <p15:guide id="7" pos="5586">
          <p15:clr>
            <a:srgbClr val="A4A3A4"/>
          </p15:clr>
        </p15:guide>
        <p15:guide id="8" pos="7333">
          <p15:clr>
            <a:srgbClr val="A4A3A4"/>
          </p15:clr>
        </p15:guide>
        <p15:guide id="9" orient="horz" pos="3952">
          <p15:clr>
            <a:srgbClr val="A4A3A4"/>
          </p15:clr>
        </p15:guide>
        <p15:guide id="10" pos="6471">
          <p15:clr>
            <a:srgbClr val="A4A3A4"/>
          </p15:clr>
        </p15:guide>
        <p15:guide id="11" orient="horz" pos="913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3D57B1-12B9-4005-86FB-CC4F56A2BD71}">
  <a:tblStyle styleId="{F83D57B1-12B9-4005-86FB-CC4F56A2BD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DD89E76-799E-48AD-82E4-79A5A76984D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pos="3952" orient="horz"/>
        <p:guide pos="6471"/>
        <p:guide pos="913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bf6fa5f41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dbf6fa5f41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bf6fa5f41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dbf6fa5f41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bf6fa5f41_1_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bf6fa5f41_1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bf6fa5f41_1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dbf6fa5f41_1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bf6fa5f41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dbf6fa5f41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bf6fa5f41_1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dbf6fa5f41_1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bf6fa5f41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dbf6fa5f41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bf6fa5f41_1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dbf6fa5f41_1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bf6fa5f41_1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bf6fa5f41_1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bf6fa5f41_1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dbf6fa5f41_1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bf6fa5f41_1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dbf6fa5f41_1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bf6fa5f41_1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dbf6fa5f41_1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bf6fa5f41_1_2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dbf6fa5f41_1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bf6fa5f41_1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dbf6fa5f41_1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bf6fa5f41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dbf6fa5f41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bf6fa5f41_1_2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dbf6fa5f41_1_2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bf6fa5f41_1_2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dbf6fa5f41_1_2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bf6fa5f41_1_3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dbf6fa5f41_1_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bf6fa5f41_1_3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dbf6fa5f41_1_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bf6fa5f41_1_3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dbf6fa5f41_1_3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bf6fa5f41_1_3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dbf6fa5f41_1_3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bf6fa5f41_1_3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dbf6fa5f41_1_3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circle with white text&#10;&#10;Description automatically generated with low confidence" id="16" name="Google Shape;1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2"/>
          <p:cNvCxnSpPr/>
          <p:nvPr/>
        </p:nvCxnSpPr>
        <p:spPr>
          <a:xfrm>
            <a:off x="6090212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" name="Google Shape;18;p2"/>
          <p:cNvCxnSpPr/>
          <p:nvPr/>
        </p:nvCxnSpPr>
        <p:spPr>
          <a:xfrm>
            <a:off x="8642581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" name="Google Shape;19;p2"/>
          <p:cNvCxnSpPr/>
          <p:nvPr/>
        </p:nvCxnSpPr>
        <p:spPr>
          <a:xfrm>
            <a:off x="11179047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" name="Google Shape;20;p2"/>
          <p:cNvSpPr txBox="1"/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  <a:defRPr b="0" i="0" sz="4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body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2" type="body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3" type="body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4" type="body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6" name="Google Shape;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" name="Google Shape;28;p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" name="Google Shape;29;p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" name="Google Shape;30;p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3"/>
          <p:cNvSpPr/>
          <p:nvPr>
            <p:ph idx="2" type="pic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3" name="Google Shape;33;p3"/>
          <p:cNvSpPr txBox="1"/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3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4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5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9" name="Google Shape;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4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" name="Google Shape;41;p4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" name="Google Shape;42;p4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" name="Google Shape;43;p4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4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" name="Google Shape;45;p4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3" type="body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4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51" name="Google Shape;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5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" name="Google Shape;53;p5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" name="Google Shape;54;p5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" name="Google Shape;55;p5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5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3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4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5" type="body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b="0" i="0" sz="3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6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5" name="Google Shape;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6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" name="Google Shape;67;p6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" name="Google Shape;68;p6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" name="Google Shape;69;p6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70;p6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6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4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5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"/>
          <p:cNvSpPr/>
          <p:nvPr>
            <p:ph idx="6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7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" name="Google Shape;81;p7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" name="Google Shape;82;p7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" name="Google Shape;83;p7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7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" name="Google Shape;85;p7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7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4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7"/>
          <p:cNvSpPr/>
          <p:nvPr>
            <p:ph idx="5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6" type="body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7"/>
          <p:cNvSpPr txBox="1"/>
          <p:nvPr>
            <p:ph idx="7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93" name="Google Shape;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8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8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8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8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8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8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8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8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8"/>
          <p:cNvSpPr txBox="1"/>
          <p:nvPr>
            <p:ph idx="4" type="body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8"/>
          <p:cNvSpPr txBox="1"/>
          <p:nvPr>
            <p:ph idx="5" type="body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8"/>
          <p:cNvSpPr txBox="1"/>
          <p:nvPr>
            <p:ph idx="6" type="body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8"/>
          <p:cNvSpPr txBox="1"/>
          <p:nvPr>
            <p:ph idx="7" type="body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8"/>
          <p:cNvSpPr txBox="1"/>
          <p:nvPr>
            <p:ph idx="8" type="body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8"/>
          <p:cNvSpPr txBox="1"/>
          <p:nvPr>
            <p:ph idx="9" type="body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10" name="Google Shape;1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9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" name="Google Shape;112;p9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" name="Google Shape;113;p9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9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9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9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9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9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9"/>
          <p:cNvSpPr txBox="1"/>
          <p:nvPr>
            <p:ph idx="4" type="body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9"/>
          <p:cNvSpPr txBox="1"/>
          <p:nvPr>
            <p:ph idx="5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22" name="Google Shape;1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0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" name="Google Shape;124;p10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" name="Google Shape;125;p10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10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10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0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0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0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10"/>
          <p:cNvSpPr txBox="1"/>
          <p:nvPr>
            <p:ph idx="4" type="body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10"/>
          <p:cNvSpPr txBox="1"/>
          <p:nvPr>
            <p:ph idx="5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0"/>
          <p:cNvSpPr txBox="1"/>
          <p:nvPr>
            <p:ph idx="6" type="body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0A20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38" name="Google Shape;1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12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0" name="Google Shape;140;p12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" name="Google Shape;141;p12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12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12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12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2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2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48" name="Google Shape;1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p1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" name="Google Shape;151;p1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" name="Google Shape;152;p1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1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" name="Google Shape;154;p13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13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13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13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3"/>
          <p:cNvSpPr txBox="1"/>
          <p:nvPr>
            <p:ph idx="4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3"/>
          <p:cNvSpPr/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/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3870"/>
              <a:buFont typeface="Arial"/>
              <a:buNone/>
            </a:pPr>
            <a:r>
              <a:rPr lang="ru-RU" sz="3800"/>
              <a:t>Разработка модели предсказания релевантных продуктов и платежных методов </a:t>
            </a:r>
            <a:endParaRPr sz="3800"/>
          </a:p>
        </p:txBody>
      </p:sp>
      <p:sp>
        <p:nvSpPr>
          <p:cNvPr id="184" name="Google Shape;184;p14"/>
          <p:cNvSpPr txBox="1"/>
          <p:nvPr>
            <p:ph idx="1" type="body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Факультет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компьютерных наук</a:t>
            </a:r>
            <a:endParaRPr/>
          </a:p>
        </p:txBody>
      </p:sp>
      <p:sp>
        <p:nvSpPr>
          <p:cNvPr id="185" name="Google Shape;185;p14"/>
          <p:cNvSpPr txBox="1"/>
          <p:nvPr>
            <p:ph idx="2" type="body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</p:txBody>
      </p:sp>
      <p:sp>
        <p:nvSpPr>
          <p:cNvPr id="186" name="Google Shape;186;p14"/>
          <p:cNvSpPr txBox="1"/>
          <p:nvPr>
            <p:ph idx="3" type="body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/>
              <a:t>Москва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/>
              <a:t>2026</a:t>
            </a:r>
            <a:endParaRPr/>
          </a:p>
        </p:txBody>
      </p:sp>
      <p:sp>
        <p:nvSpPr>
          <p:cNvPr id="187" name="Google Shape;187;p14"/>
          <p:cNvSpPr txBox="1"/>
          <p:nvPr>
            <p:ph idx="4" type="body"/>
          </p:nvPr>
        </p:nvSpPr>
        <p:spPr>
          <a:xfrm>
            <a:off x="1027975" y="4290700"/>
            <a:ext cx="7625400" cy="14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838"/>
              <a:buFont typeface="Arial"/>
              <a:buNone/>
            </a:pPr>
            <a:r>
              <a:rPr lang="ru-RU" sz="1243"/>
              <a:t>для действующих клиентов интернет-эквайринга с использованием методов машинного обучения</a:t>
            </a:r>
            <a:endParaRPr sz="1243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838"/>
              <a:buFont typeface="Arial"/>
              <a:buNone/>
            </a:pPr>
            <a:r>
              <a:t/>
            </a:r>
            <a:endParaRPr sz="1243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838"/>
              <a:buFont typeface="Arial"/>
              <a:buNone/>
            </a:pPr>
            <a:r>
              <a:t/>
            </a:r>
            <a:endParaRPr sz="1243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838"/>
              <a:buFont typeface="Arial"/>
              <a:buNone/>
            </a:pPr>
            <a:r>
              <a:t/>
            </a:r>
            <a:endParaRPr sz="1243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838"/>
              <a:buFont typeface="Arial"/>
              <a:buNone/>
            </a:pPr>
            <a:r>
              <a:t/>
            </a:r>
            <a:endParaRPr sz="1243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838"/>
              <a:buFont typeface="Arial"/>
              <a:buNone/>
            </a:pPr>
            <a:r>
              <a:t/>
            </a:r>
            <a:endParaRPr sz="1243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838"/>
              <a:buFont typeface="Arial"/>
              <a:buNone/>
            </a:pPr>
            <a:r>
              <a:rPr lang="ru-RU" sz="1243"/>
              <a:t>Студент: Еричев А. В.</a:t>
            </a:r>
            <a:endParaRPr sz="1243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838"/>
              <a:buFont typeface="Arial"/>
              <a:buNone/>
            </a:pPr>
            <a:r>
              <a:t/>
            </a:r>
            <a:endParaRPr sz="1243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838"/>
              <a:buFont typeface="Arial"/>
              <a:buNone/>
            </a:pPr>
            <a:r>
              <a:rPr lang="ru-RU" sz="1243"/>
              <a:t>Научный руководитель: Кубаева А. Р.</a:t>
            </a:r>
            <a:endParaRPr sz="1243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760"/>
              <a:buFont typeface="Arial"/>
              <a:buNone/>
            </a:pPr>
            <a:r>
              <a:t/>
            </a:r>
            <a:endParaRPr sz="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>
            <p:ph idx="3" type="body"/>
          </p:nvPr>
        </p:nvSpPr>
        <p:spPr>
          <a:xfrm>
            <a:off x="585900" y="2379675"/>
            <a:ext cx="6195900" cy="3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Для действующей клиентской базы интернет-эквайринга необходимо разработать модель предсказания таких продуктов и платежных методов из множества P1, P2, P3, Altpay5, которые позволят максимизировать ожидаемую выручку компании от их подключения при следующих условиях: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Ограничение: 2000 контактов в месяц (ресурс отдела продаж)</a:t>
            </a:r>
            <a:endParaRPr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Клиент в одном месяце может подключить несколько продуктов.</a:t>
            </a:r>
            <a:endParaRPr sz="2000"/>
          </a:p>
        </p:txBody>
      </p:sp>
      <p:sp>
        <p:nvSpPr>
          <p:cNvPr id="193" name="Google Shape;193;p15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</p:txBody>
      </p:sp>
      <p:sp>
        <p:nvSpPr>
          <p:cNvPr id="194" name="Google Shape;194;p15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195" name="Google Shape;195;p15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3400"/>
              <a:t>Постановка задачи</a:t>
            </a:r>
            <a:endParaRPr sz="3400"/>
          </a:p>
        </p:txBody>
      </p:sp>
      <p:sp>
        <p:nvSpPr>
          <p:cNvPr id="196" name="Google Shape;196;p15"/>
          <p:cNvSpPr txBox="1"/>
          <p:nvPr>
            <p:ph idx="4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Описание задачи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/>
          <p:nvPr>
            <p:ph idx="1" type="body"/>
          </p:nvPr>
        </p:nvSpPr>
        <p:spPr>
          <a:xfrm>
            <a:off x="585901" y="2379675"/>
            <a:ext cx="6992100" cy="3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Увеличить ожидаемую выручку от дополнительных продуктов компании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Улучшить качество отбора клиентов для каждого дополнительного продукта и платежного метода в сравнении с базовыми решениями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Реализовать интерфейс для взаимодействия бизнес-пользователей с результатами предсказания моделей в соответствии с существующими бизнес-процессами</a:t>
            </a:r>
            <a:endParaRPr sz="2000"/>
          </a:p>
        </p:txBody>
      </p:sp>
      <p:sp>
        <p:nvSpPr>
          <p:cNvPr id="202" name="Google Shape;202;p16"/>
          <p:cNvSpPr txBox="1"/>
          <p:nvPr>
            <p:ph type="title"/>
          </p:nvPr>
        </p:nvSpPr>
        <p:spPr>
          <a:xfrm>
            <a:off x="585898" y="1447790"/>
            <a:ext cx="5245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3400"/>
              <a:t>Ц</a:t>
            </a:r>
            <a:r>
              <a:rPr lang="ru-RU" sz="3400"/>
              <a:t>ели</a:t>
            </a:r>
            <a:endParaRPr sz="3400"/>
          </a:p>
        </p:txBody>
      </p:sp>
      <p:sp>
        <p:nvSpPr>
          <p:cNvPr id="203" name="Google Shape;203;p16"/>
          <p:cNvSpPr txBox="1"/>
          <p:nvPr>
            <p:ph idx="3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4" name="Google Shape;204;p16"/>
          <p:cNvSpPr txBox="1"/>
          <p:nvPr>
            <p:ph idx="4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205" name="Google Shape;205;p16"/>
          <p:cNvSpPr txBox="1"/>
          <p:nvPr>
            <p:ph idx="5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Описание задачи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/>
          <p:nvPr>
            <p:ph idx="3" type="body"/>
          </p:nvPr>
        </p:nvSpPr>
        <p:spPr>
          <a:xfrm>
            <a:off x="585900" y="2379675"/>
            <a:ext cx="7462800" cy="3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Исходный датасет содержит помесячные данные по клиентам интернет-эквайринга за декабрь 2024 — февраль 2026; единица наблюдения — пара (ИНН, месяц). Признаки отражают текущее состояние компании в момент наблюдения.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Идентификация и статус</a:t>
            </a:r>
            <a:endParaRPr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Транзакционная активность</a:t>
            </a:r>
            <a:endParaRPr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Продуктовый профиль</a:t>
            </a:r>
            <a:endParaRPr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Клиентские характеристики</a:t>
            </a:r>
            <a:endParaRPr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Бизнес-правила</a:t>
            </a:r>
            <a:endParaRPr sz="2000"/>
          </a:p>
        </p:txBody>
      </p:sp>
      <p:sp>
        <p:nvSpPr>
          <p:cNvPr id="211" name="Google Shape;211;p17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2" name="Google Shape;212;p17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213" name="Google Shape;213;p17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3400"/>
              <a:t>Описание данных</a:t>
            </a:r>
            <a:endParaRPr sz="3400"/>
          </a:p>
        </p:txBody>
      </p:sp>
      <p:sp>
        <p:nvSpPr>
          <p:cNvPr id="214" name="Google Shape;214;p17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Описание данных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/>
          <p:nvPr>
            <p:ph idx="3" type="body"/>
          </p:nvPr>
        </p:nvSpPr>
        <p:spPr>
          <a:xfrm>
            <a:off x="585900" y="2379675"/>
            <a:ext cx="11101200" cy="3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В рамках данной работы целевой переменной является факт, что клиент подключит продукт в следующем месяце (T+1), при условии наличия данных только на текущий месяц </a:t>
            </a:r>
            <a:r>
              <a:rPr lang="ru-RU" sz="2000"/>
              <a:t>(T)</a:t>
            </a:r>
            <a:r>
              <a:rPr lang="ru-RU" sz="2000"/>
              <a:t>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Это обусловлено текущим бизнес-процессом</a:t>
            </a:r>
            <a:r>
              <a:rPr b="1" lang="ru-RU" sz="2000"/>
              <a:t>:</a:t>
            </a:r>
            <a:r>
              <a:rPr lang="ru-RU" sz="2000"/>
              <a:t> руководитель отдела кросс-продаж формирует базы клиентов по продуктам в начале каждого календарного месяца, основываясь на данных, известных на текущий момент, и методе экспертной оценки.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Соответственно, в рамках текущего бизнес-процесса релевантно предсказывать для каждого клиента, какой продукт или набор продуктов он подключит в текущем месяце (T), основываясь на данных за предыдущий месяц (T-1).</a:t>
            </a:r>
            <a:endParaRPr sz="2000"/>
          </a:p>
        </p:txBody>
      </p:sp>
      <p:sp>
        <p:nvSpPr>
          <p:cNvPr id="220" name="Google Shape;220;p18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1" name="Google Shape;221;p18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222" name="Google Shape;222;p18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3400"/>
              <a:t>Определение таргета</a:t>
            </a:r>
            <a:endParaRPr sz="3400"/>
          </a:p>
        </p:txBody>
      </p:sp>
      <p:sp>
        <p:nvSpPr>
          <p:cNvPr id="223" name="Google Shape;223;p18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Описание данных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/>
          <p:nvPr>
            <p:ph idx="3" type="body"/>
          </p:nvPr>
        </p:nvSpPr>
        <p:spPr>
          <a:xfrm>
            <a:off x="585900" y="2379675"/>
            <a:ext cx="11101200" cy="3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Исходя из условия о возможности подключения одним клиентом нескольких продуктов в одном месяце, целесообразно разделить исходный датасет на продуктовые, в рамках которых будет определен таргет для следующих продуктов: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P1P2 — продукты объединены, так как являются взаимоисключающими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P3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Altpay5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В процессе сборки продуктовых </a:t>
            </a:r>
            <a:r>
              <a:rPr lang="ru-RU" sz="2000"/>
              <a:t>датасет</a:t>
            </a:r>
            <a:r>
              <a:rPr lang="ru-RU" sz="2000"/>
              <a:t> используется следующая логика: «оставим по каждому клиенту только наблюдения строго до момента подключения данного продукта. Если клиент никогда не подключал продукт, то оставим в продуктовом датафрейме все наблюдения по этому клиенту».</a:t>
            </a:r>
            <a:endParaRPr sz="2000"/>
          </a:p>
        </p:txBody>
      </p:sp>
      <p:sp>
        <p:nvSpPr>
          <p:cNvPr id="229" name="Google Shape;229;p19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0" name="Google Shape;230;p19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231" name="Google Shape;231;p19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3400"/>
              <a:t>Формирование продуктовых датасетов</a:t>
            </a:r>
            <a:endParaRPr sz="3400"/>
          </a:p>
        </p:txBody>
      </p:sp>
      <p:sp>
        <p:nvSpPr>
          <p:cNvPr id="232" name="Google Shape;232;p19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Описание данных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239" name="Google Shape;239;p20"/>
          <p:cNvSpPr txBox="1"/>
          <p:nvPr>
            <p:ph idx="4" type="body"/>
          </p:nvPr>
        </p:nvSpPr>
        <p:spPr>
          <a:xfrm>
            <a:off x="585899" y="2379663"/>
            <a:ext cx="39342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 sz="1600"/>
              <a:t>В каждом продуктовом датасете наблюдается сильный дисбаланс классов. В зависимости от продукта, доля positive варьируется от 0.01% до 0.23%, что в сочетании с бизнес-ограничением на 2000 контактов в месяц создаёт предпосылки к рассмотрению задачи предсказания релевантных продуктов и платежных методов как задачи ранжирования с определением вероятностей принадлежности наблюдений к положительному классу по метрикам top-K.</a:t>
            </a:r>
            <a:endParaRPr sz="1600"/>
          </a:p>
        </p:txBody>
      </p:sp>
      <p:sp>
        <p:nvSpPr>
          <p:cNvPr id="240" name="Google Shape;240;p20"/>
          <p:cNvSpPr txBox="1"/>
          <p:nvPr>
            <p:ph idx="3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Описание данных</a:t>
            </a:r>
            <a:endParaRPr/>
          </a:p>
        </p:txBody>
      </p:sp>
      <p:sp>
        <p:nvSpPr>
          <p:cNvPr id="241" name="Google Shape;241;p20"/>
          <p:cNvSpPr txBox="1"/>
          <p:nvPr>
            <p:ph type="title"/>
          </p:nvPr>
        </p:nvSpPr>
        <p:spPr>
          <a:xfrm>
            <a:off x="585899" y="1447790"/>
            <a:ext cx="43224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3400"/>
              <a:t>Баланс классов</a:t>
            </a:r>
            <a:endParaRPr sz="3400"/>
          </a:p>
        </p:txBody>
      </p:sp>
      <p:graphicFrame>
        <p:nvGraphicFramePr>
          <p:cNvPr id="242" name="Google Shape;242;p20"/>
          <p:cNvGraphicFramePr/>
          <p:nvPr/>
        </p:nvGraphicFramePr>
        <p:xfrm>
          <a:off x="6096000" y="237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{F83D57B1-12B9-4005-86FB-CC4F56A2BD71}</a:tableStyleId>
              </a:tblPr>
              <a:tblGrid>
                <a:gridCol w="1310950"/>
                <a:gridCol w="1310950"/>
                <a:gridCol w="1310950"/>
                <a:gridCol w="1310950"/>
              </a:tblGrid>
              <a:tr h="128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Продукт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Всего наблюдений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Положительный класс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Доля положительного класса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9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P1P2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336 921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776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0.23%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9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P3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388 362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0.01%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9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Altpay5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381 734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512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0.13%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249" name="Google Shape;249;p21"/>
          <p:cNvSpPr txBox="1"/>
          <p:nvPr>
            <p:ph type="title"/>
          </p:nvPr>
        </p:nvSpPr>
        <p:spPr>
          <a:xfrm>
            <a:off x="594248" y="3040490"/>
            <a:ext cx="10714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4600"/>
              <a:t>Главные выводы </a:t>
            </a:r>
            <a:r>
              <a:rPr lang="ru-RU" sz="4600"/>
              <a:t>EDA P1P2</a:t>
            </a:r>
            <a:endParaRPr sz="4600"/>
          </a:p>
        </p:txBody>
      </p:sp>
      <p:sp>
        <p:nvSpPr>
          <p:cNvPr id="250" name="Google Shape;250;p21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EDA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6" name="Google Shape;256;p22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257" name="Google Shape;257;p22"/>
          <p:cNvSpPr txBox="1"/>
          <p:nvPr>
            <p:ph type="title"/>
          </p:nvPr>
        </p:nvSpPr>
        <p:spPr>
          <a:xfrm>
            <a:off x="585898" y="1447790"/>
            <a:ext cx="10714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Новые клиенты — наиболее релевантные</a:t>
            </a:r>
            <a:endParaRPr/>
          </a:p>
        </p:txBody>
      </p:sp>
      <p:sp>
        <p:nvSpPr>
          <p:cNvPr id="258" name="Google Shape;258;p22"/>
          <p:cNvSpPr txBox="1"/>
          <p:nvPr>
            <p:ph idx="3" type="body"/>
          </p:nvPr>
        </p:nvSpPr>
        <p:spPr>
          <a:xfrm>
            <a:off x="585898" y="2379663"/>
            <a:ext cx="43224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Наибольшая доля положительных классов у клиентов, недавно подключивших основной продукт — интернет-эквайринг. В нулевой, первый и второй месяц жизни с даты первой транзакции наибольшее кол-во ИНН подключило продукт P1P2.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Это наблюдение создаёт гипотезу о том, что новые клиенты более открыты к кросс-сейлу P1P2.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Дополнительные выводы: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Лучшие конверсии у активных клиентов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Релевантные группы MCC — EDU, Digital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Есть подключения у клиентов в оттоке</a:t>
            </a:r>
            <a:endParaRPr sz="1600"/>
          </a:p>
        </p:txBody>
      </p:sp>
      <p:sp>
        <p:nvSpPr>
          <p:cNvPr id="259" name="Google Shape;259;p22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EDA</a:t>
            </a:r>
            <a:endParaRPr/>
          </a:p>
        </p:txBody>
      </p:sp>
      <p:pic>
        <p:nvPicPr>
          <p:cNvPr id="260" name="Google Shape;2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6249" y="1854875"/>
            <a:ext cx="5037176" cy="412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6" name="Google Shape;266;p23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594248" y="3040490"/>
            <a:ext cx="10714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4600"/>
              <a:t>EDA P3</a:t>
            </a:r>
            <a:endParaRPr sz="4600"/>
          </a:p>
        </p:txBody>
      </p:sp>
      <p:sp>
        <p:nvSpPr>
          <p:cNvPr id="268" name="Google Shape;268;p23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EDA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4" name="Google Shape;274;p24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275" name="Google Shape;275;p24"/>
          <p:cNvSpPr txBox="1"/>
          <p:nvPr>
            <p:ph type="title"/>
          </p:nvPr>
        </p:nvSpPr>
        <p:spPr>
          <a:xfrm>
            <a:off x="585898" y="1447790"/>
            <a:ext cx="10714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P3 — самый редкий продукт из представленных в работе</a:t>
            </a:r>
            <a:endParaRPr/>
          </a:p>
        </p:txBody>
      </p:sp>
      <p:sp>
        <p:nvSpPr>
          <p:cNvPr id="276" name="Google Shape;276;p24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EDA</a:t>
            </a:r>
            <a:endParaRPr/>
          </a:p>
        </p:txBody>
      </p:sp>
      <p:pic>
        <p:nvPicPr>
          <p:cNvPr id="277" name="Google Shape;27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2152" y="2224800"/>
            <a:ext cx="4971250" cy="37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>
            <p:ph idx="4" type="body"/>
          </p:nvPr>
        </p:nvSpPr>
        <p:spPr>
          <a:xfrm>
            <a:off x="585899" y="2379663"/>
            <a:ext cx="39342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 sz="1600"/>
              <a:t>Количество подключений по месяцам варьируется от 0 до 6. При этом доля положительного класса составляет 0.01% от всех наблюдений в датасете, что делает применение ML-методов по отношению к P3 нетривиальной задачей, а выводы на основе данных об этом продукте — статистически хрупкими.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 sz="1600"/>
              <a:t>Дополнительные выводы: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Наиболее релевантные группы MCC — Tickets&amp;Clubs, FoodTech, EDU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4" name="Google Shape;284;p25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285" name="Google Shape;285;p25"/>
          <p:cNvSpPr txBox="1"/>
          <p:nvPr>
            <p:ph type="title"/>
          </p:nvPr>
        </p:nvSpPr>
        <p:spPr>
          <a:xfrm>
            <a:off x="594248" y="3040490"/>
            <a:ext cx="10714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4600"/>
              <a:t>EDA Altpay5</a:t>
            </a:r>
            <a:endParaRPr sz="4600"/>
          </a:p>
        </p:txBody>
      </p:sp>
      <p:sp>
        <p:nvSpPr>
          <p:cNvPr id="286" name="Google Shape;286;p25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EDA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2" name="Google Shape;292;p26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293" name="Google Shape;293;p26"/>
          <p:cNvSpPr txBox="1"/>
          <p:nvPr>
            <p:ph type="title"/>
          </p:nvPr>
        </p:nvSpPr>
        <p:spPr>
          <a:xfrm>
            <a:off x="585898" y="1447790"/>
            <a:ext cx="10714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Большая часть подключений Altpay5 приходится на новых клиентов</a:t>
            </a:r>
            <a:endParaRPr/>
          </a:p>
        </p:txBody>
      </p:sp>
      <p:sp>
        <p:nvSpPr>
          <p:cNvPr id="294" name="Google Shape;294;p26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EDA</a:t>
            </a:r>
            <a:endParaRPr/>
          </a:p>
        </p:txBody>
      </p:sp>
      <p:pic>
        <p:nvPicPr>
          <p:cNvPr id="295" name="Google Shape;2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3775" y="2101440"/>
            <a:ext cx="5192273" cy="432841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 txBox="1"/>
          <p:nvPr>
            <p:ph idx="3" type="body"/>
          </p:nvPr>
        </p:nvSpPr>
        <p:spPr>
          <a:xfrm>
            <a:off x="585898" y="2379663"/>
            <a:ext cx="43224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Наблюдение схожее с P1P2, что усиливает межпродуктовую гипотезу о том, что новые клиенты — наиболее релевантные для предложения новых продуктов.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Дополнительные выводы: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Активные клиенты — наиболее релевантные (ожидаемо для платежного метода)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Группы MCC — Fashion&amp;Sport, Digital, EDU, Online&amp;Telecom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Бизнес-правила по релевантным MCC и обороту соотносятся с данными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2" name="Google Shape;302;p27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303" name="Google Shape;303;p27"/>
          <p:cNvSpPr txBox="1"/>
          <p:nvPr>
            <p:ph type="title"/>
          </p:nvPr>
        </p:nvSpPr>
        <p:spPr>
          <a:xfrm>
            <a:off x="594248" y="3040490"/>
            <a:ext cx="10714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4600"/>
              <a:t>Обучение моделей</a:t>
            </a:r>
            <a:endParaRPr sz="4600"/>
          </a:p>
        </p:txBody>
      </p:sp>
      <p:sp>
        <p:nvSpPr>
          <p:cNvPr id="304" name="Google Shape;304;p27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Обучение моделей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/>
          <p:nvPr>
            <p:ph idx="3" type="body"/>
          </p:nvPr>
        </p:nvSpPr>
        <p:spPr>
          <a:xfrm>
            <a:off x="585900" y="5767400"/>
            <a:ext cx="11058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Вывод:</a:t>
            </a:r>
            <a:r>
              <a:rPr lang="ru-RU" sz="2000"/>
              <a:t> модель должна </a:t>
            </a:r>
            <a:r>
              <a:rPr lang="ru-RU" sz="2000"/>
              <a:t>не разделить клиентов на два класса, а </a:t>
            </a:r>
            <a:r>
              <a:rPr lang="ru-RU" sz="2000"/>
              <a:t>правильно упорядочить их по убыванию вероятности конверсии в подключение дополнительного продукта.</a:t>
            </a:r>
            <a:endParaRPr sz="2000"/>
          </a:p>
        </p:txBody>
      </p:sp>
      <p:sp>
        <p:nvSpPr>
          <p:cNvPr id="310" name="Google Shape;310;p28"/>
          <p:cNvSpPr txBox="1"/>
          <p:nvPr>
            <p:ph idx="3" type="body"/>
          </p:nvPr>
        </p:nvSpPr>
        <p:spPr>
          <a:xfrm>
            <a:off x="585900" y="2379675"/>
            <a:ext cx="110580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/>
              <a:t>Классические метрики классификации считаются при фиксированном пороге вероятностей. При постановке задачи он не задан, однако явно обозначено ресурсное ограничение — 2000 звонков в месяц. Оно естественным образом переформулирует вопрос, ответ на который ожидается от итоговой модели:</a:t>
            </a:r>
            <a:endParaRPr sz="2000"/>
          </a:p>
        </p:txBody>
      </p:sp>
      <p:sp>
        <p:nvSpPr>
          <p:cNvPr id="311" name="Google Shape;311;p28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</p:txBody>
      </p:sp>
      <p:sp>
        <p:nvSpPr>
          <p:cNvPr id="312" name="Google Shape;312;p28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313" name="Google Shape;313;p28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3400"/>
              <a:t>Предпосылки к выбору метрик</a:t>
            </a:r>
            <a:endParaRPr sz="3400"/>
          </a:p>
        </p:txBody>
      </p:sp>
      <p:sp>
        <p:nvSpPr>
          <p:cNvPr id="314" name="Google Shape;314;p28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Обучение моделей</a:t>
            </a:r>
            <a:endParaRPr/>
          </a:p>
        </p:txBody>
      </p:sp>
      <p:sp>
        <p:nvSpPr>
          <p:cNvPr id="315" name="Google Shape;315;p28"/>
          <p:cNvSpPr txBox="1"/>
          <p:nvPr>
            <p:ph idx="4294967295" type="body"/>
          </p:nvPr>
        </p:nvSpPr>
        <p:spPr>
          <a:xfrm>
            <a:off x="585901" y="4130246"/>
            <a:ext cx="27582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</a:pPr>
            <a:r>
              <a:rPr lang="ru-RU" sz="3400"/>
              <a:t>«Кто купит?»</a:t>
            </a:r>
            <a:endParaRPr sz="3400"/>
          </a:p>
        </p:txBody>
      </p:sp>
      <p:sp>
        <p:nvSpPr>
          <p:cNvPr id="316" name="Google Shape;316;p28"/>
          <p:cNvSpPr txBox="1"/>
          <p:nvPr>
            <p:ph idx="4294967295" type="body"/>
          </p:nvPr>
        </p:nvSpPr>
        <p:spPr>
          <a:xfrm>
            <a:off x="7893400" y="4241250"/>
            <a:ext cx="36369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</a:pPr>
            <a:r>
              <a:rPr lang="ru-RU" sz="1700"/>
              <a:t>«Кому приоритетнее звонить, чтобы максимизировать конверсию при фиксированном числе контактов?»</a:t>
            </a:r>
            <a:endParaRPr sz="1700"/>
          </a:p>
        </p:txBody>
      </p:sp>
      <p:cxnSp>
        <p:nvCxnSpPr>
          <p:cNvPr id="317" name="Google Shape;317;p28"/>
          <p:cNvCxnSpPr/>
          <p:nvPr/>
        </p:nvCxnSpPr>
        <p:spPr>
          <a:xfrm>
            <a:off x="4369237" y="4712250"/>
            <a:ext cx="275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3" name="Google Shape;323;p29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324" name="Google Shape;324;p29"/>
          <p:cNvSpPr txBox="1"/>
          <p:nvPr>
            <p:ph idx="3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Обучение моделей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25" name="Google Shape;325;p29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4700"/>
              <a:t>Метрики качества</a:t>
            </a:r>
            <a:endParaRPr sz="4700"/>
          </a:p>
        </p:txBody>
      </p:sp>
      <p:sp>
        <p:nvSpPr>
          <p:cNvPr id="326" name="Google Shape;326;p29"/>
          <p:cNvSpPr txBox="1"/>
          <p:nvPr>
            <p:ph idx="4" type="body"/>
          </p:nvPr>
        </p:nvSpPr>
        <p:spPr>
          <a:xfrm>
            <a:off x="585900" y="5631450"/>
            <a:ext cx="86028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 sz="2400"/>
              <a:t>K = [500, 1000, 1500, </a:t>
            </a:r>
            <a:r>
              <a:rPr lang="ru-RU" sz="2400" u="sng"/>
              <a:t>2000</a:t>
            </a:r>
            <a:r>
              <a:rPr lang="ru-RU" sz="2400"/>
              <a:t>], макро-усреднение по месяцам</a:t>
            </a:r>
            <a:endParaRPr sz="2400"/>
          </a:p>
        </p:txBody>
      </p:sp>
      <p:sp>
        <p:nvSpPr>
          <p:cNvPr id="327" name="Google Shape;327;p29"/>
          <p:cNvSpPr txBox="1"/>
          <p:nvPr>
            <p:ph idx="7" type="body"/>
          </p:nvPr>
        </p:nvSpPr>
        <p:spPr>
          <a:xfrm>
            <a:off x="585901" y="3275110"/>
            <a:ext cx="27582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</a:pPr>
            <a:r>
              <a:rPr lang="ru-RU" sz="3400"/>
              <a:t>Precision@K</a:t>
            </a:r>
            <a:endParaRPr sz="3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</a:pPr>
            <a:r>
              <a:rPr lang="ru-RU" sz="1700"/>
              <a:t>TP@K / K</a:t>
            </a:r>
            <a:endParaRPr sz="1700"/>
          </a:p>
        </p:txBody>
      </p:sp>
      <p:sp>
        <p:nvSpPr>
          <p:cNvPr id="328" name="Google Shape;328;p29"/>
          <p:cNvSpPr txBox="1"/>
          <p:nvPr>
            <p:ph idx="8" type="body"/>
          </p:nvPr>
        </p:nvSpPr>
        <p:spPr>
          <a:xfrm>
            <a:off x="4057832" y="3275110"/>
            <a:ext cx="27582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</a:pPr>
            <a:r>
              <a:rPr lang="ru-RU" sz="3400"/>
              <a:t>Recall@K</a:t>
            </a:r>
            <a:endParaRPr sz="3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</a:pPr>
            <a:r>
              <a:rPr lang="ru-RU" sz="1700"/>
              <a:t>TP@K / (TP + FN)</a:t>
            </a:r>
            <a:endParaRPr sz="1700"/>
          </a:p>
        </p:txBody>
      </p:sp>
      <p:sp>
        <p:nvSpPr>
          <p:cNvPr id="329" name="Google Shape;329;p29"/>
          <p:cNvSpPr txBox="1"/>
          <p:nvPr>
            <p:ph idx="9" type="body"/>
          </p:nvPr>
        </p:nvSpPr>
        <p:spPr>
          <a:xfrm>
            <a:off x="7529775" y="3275100"/>
            <a:ext cx="32511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</a:pPr>
            <a:r>
              <a:rPr lang="ru-RU" sz="3400"/>
              <a:t>Expected Conversions@K</a:t>
            </a:r>
            <a:endParaRPr sz="3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</a:pPr>
            <a:r>
              <a:rPr lang="ru-RU" sz="1700"/>
              <a:t>TP@K</a:t>
            </a:r>
            <a:endParaRPr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336" name="Google Shape;336;p30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3400"/>
              <a:t>Train, Validation, Test Split</a:t>
            </a:r>
            <a:endParaRPr sz="3400"/>
          </a:p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585900" y="2379675"/>
            <a:ext cx="51495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 sz="1600"/>
              <a:t>Модель обучается на предыдущих периодах, обучающая выборка всегда предшествует валидационной, а валидационная — тестовой. 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 sz="1600"/>
              <a:t>При этом один клиент может присутствовать в нескольких выборках, что корректно — модель обучается на истории клиента и тестируется на его будущем поведении.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 sz="1600"/>
              <a:t>При обучении некоторых моделей происходит разделение только на Train и Test, тогда Test остаётся таким же, а Train также включает в себя периоды Validation.</a:t>
            </a:r>
            <a:endParaRPr sz="1600"/>
          </a:p>
        </p:txBody>
      </p:sp>
      <p:sp>
        <p:nvSpPr>
          <p:cNvPr id="338" name="Google Shape;338;p30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Обучение моделей</a:t>
            </a:r>
            <a:endParaRPr/>
          </a:p>
        </p:txBody>
      </p:sp>
      <p:graphicFrame>
        <p:nvGraphicFramePr>
          <p:cNvPr id="339" name="Google Shape;339;p30"/>
          <p:cNvGraphicFramePr/>
          <p:nvPr/>
        </p:nvGraphicFramePr>
        <p:xfrm>
          <a:off x="7273575" y="222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{F83D57B1-12B9-4005-86FB-CC4F56A2BD71}</a:tableStyleId>
              </a:tblPr>
              <a:tblGrid>
                <a:gridCol w="1321975"/>
                <a:gridCol w="1321975"/>
                <a:gridCol w="1321975"/>
              </a:tblGrid>
              <a:tr h="67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Выборка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Период (T)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/>
                        <a:t>Таргет (T+1)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102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Train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Дек 2024 — Авг 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Янв 2025 — Сен 2025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2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Validation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Сен 2025 — Ноя 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Окт 2025 — Дек 2025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2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Test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Дек 2025 — Фев 2026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Янв 2026 — Мар 2026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</p:txBody>
      </p:sp>
      <p:sp>
        <p:nvSpPr>
          <p:cNvPr id="345" name="Google Shape;345;p31"/>
          <p:cNvSpPr txBox="1"/>
          <p:nvPr>
            <p:ph idx="4" type="body"/>
          </p:nvPr>
        </p:nvSpPr>
        <p:spPr>
          <a:xfrm>
            <a:off x="585787" y="1447065"/>
            <a:ext cx="1105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</a:pPr>
            <a:r>
              <a:rPr lang="ru-RU"/>
              <a:t>Качество моделей P1P2 на Test</a:t>
            </a:r>
            <a:endParaRPr/>
          </a:p>
        </p:txBody>
      </p:sp>
      <p:graphicFrame>
        <p:nvGraphicFramePr>
          <p:cNvPr id="346" name="Google Shape;346;p31"/>
          <p:cNvGraphicFramePr/>
          <p:nvPr/>
        </p:nvGraphicFramePr>
        <p:xfrm>
          <a:off x="585787" y="22748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{0DD89E76-799E-48AD-82E4-79A5A76984D6}</a:tableStyleId>
              </a:tblPr>
              <a:tblGrid>
                <a:gridCol w="3159450"/>
                <a:gridCol w="1579725"/>
                <a:gridCol w="1579725"/>
                <a:gridCol w="1799375"/>
                <a:gridCol w="1360075"/>
                <a:gridCol w="1579725"/>
              </a:tblGrid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Модель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Precision@2000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Recall@2000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Expected Conversions@2000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Uplift from Random Baseline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Uplift from Business Rule Baseline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Baseline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0.25%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8.67%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4.97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ru-RU" sz="1300"/>
                        <a:t>.0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0.58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Business Rule Baseline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0.43%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15.32%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8.67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1.7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Logistic Regression L1 (C=0.1)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1.50%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52.13%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30.0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3.5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LightGBM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1.12%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38.74%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22.3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4.5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2.6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CatBoost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1.33%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46.20%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26.7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5.3</a:t>
                      </a:r>
                      <a:endParaRPr b="1"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7" name="Google Shape;347;p31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348" name="Google Shape;348;p31"/>
          <p:cNvSpPr txBox="1"/>
          <p:nvPr>
            <p:ph idx="3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Обучение моделей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</p:txBody>
      </p:sp>
      <p:sp>
        <p:nvSpPr>
          <p:cNvPr id="354" name="Google Shape;354;p32"/>
          <p:cNvSpPr txBox="1"/>
          <p:nvPr>
            <p:ph idx="4" type="body"/>
          </p:nvPr>
        </p:nvSpPr>
        <p:spPr>
          <a:xfrm>
            <a:off x="585787" y="1447065"/>
            <a:ext cx="1105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</a:pPr>
            <a:r>
              <a:rPr lang="ru-RU"/>
              <a:t>Качество моделей P3 на Test</a:t>
            </a:r>
            <a:endParaRPr/>
          </a:p>
        </p:txBody>
      </p:sp>
      <p:graphicFrame>
        <p:nvGraphicFramePr>
          <p:cNvPr id="355" name="Google Shape;355;p32"/>
          <p:cNvGraphicFramePr/>
          <p:nvPr/>
        </p:nvGraphicFramePr>
        <p:xfrm>
          <a:off x="585787" y="22748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{0DD89E76-799E-48AD-82E4-79A5A76984D6}</a:tableStyleId>
              </a:tblPr>
              <a:tblGrid>
                <a:gridCol w="3159450"/>
                <a:gridCol w="1579725"/>
                <a:gridCol w="1579725"/>
                <a:gridCol w="1799375"/>
                <a:gridCol w="1360075"/>
                <a:gridCol w="1579725"/>
              </a:tblGrid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Модель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Precision@2000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Recall@2000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Expected Conversions@2000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Uplift from Random Baseline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Uplift from Business Rule Baseline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Baseline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0.005%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.30%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0.10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ru-RU" sz="1300"/>
                        <a:t>.0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0.16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Business Rule Baseline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27.78%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0.50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Logistic Regression L1 (C=10)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.03%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.78%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0.50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LightGBM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CatBoost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 b="1"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b="1"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b="1"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b="1"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6" name="Google Shape;356;p32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357" name="Google Shape;357;p32"/>
          <p:cNvSpPr txBox="1"/>
          <p:nvPr>
            <p:ph idx="3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Обучение моделей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</p:txBody>
      </p:sp>
      <p:sp>
        <p:nvSpPr>
          <p:cNvPr id="363" name="Google Shape;363;p33"/>
          <p:cNvSpPr txBox="1"/>
          <p:nvPr>
            <p:ph idx="4" type="body"/>
          </p:nvPr>
        </p:nvSpPr>
        <p:spPr>
          <a:xfrm>
            <a:off x="585787" y="1447065"/>
            <a:ext cx="1105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</a:pPr>
            <a:r>
              <a:rPr lang="ru-RU"/>
              <a:t>Качество моделей Altpay5 на Test</a:t>
            </a:r>
            <a:endParaRPr/>
          </a:p>
        </p:txBody>
      </p:sp>
      <p:graphicFrame>
        <p:nvGraphicFramePr>
          <p:cNvPr id="364" name="Google Shape;364;p33"/>
          <p:cNvGraphicFramePr/>
          <p:nvPr/>
        </p:nvGraphicFramePr>
        <p:xfrm>
          <a:off x="585787" y="22748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{0DD89E76-799E-48AD-82E4-79A5A76984D6}</a:tableStyleId>
              </a:tblPr>
              <a:tblGrid>
                <a:gridCol w="3159450"/>
                <a:gridCol w="1579725"/>
                <a:gridCol w="1579725"/>
                <a:gridCol w="1799375"/>
                <a:gridCol w="1360075"/>
                <a:gridCol w="1579725"/>
              </a:tblGrid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Модель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Precision@2000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Recall@2000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Expected Conversions@2000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Uplift from Random Baseline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Uplift from Business Rule Baseline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Baseline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0.06%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.35%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.28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ru-RU" sz="1300"/>
                        <a:t>.0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Business Rule Baseline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0.30%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.01%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5.0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Logistic Regression L1 (C=0.5)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.60%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.12%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</a:t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</a:t>
                      </a:r>
                      <a:endParaRPr sz="1300"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9C63"/>
                    </a:solidFill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LightGBM</a:t>
                      </a:r>
                      <a:endParaRPr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.52%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39.85%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.3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8.6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1.7</a:t>
                      </a:r>
                      <a:endParaRPr b="0" sz="1300">
                        <a:solidFill>
                          <a:srgbClr val="102D6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CatBoost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.58%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44.69%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11.6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9.0</a:t>
                      </a:r>
                      <a:endParaRPr b="1"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69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>
                          <a:solidFill>
                            <a:srgbClr val="102D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</a:t>
                      </a:r>
                      <a:endParaRPr b="1"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5" name="Google Shape;365;p33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366" name="Google Shape;366;p33"/>
          <p:cNvSpPr txBox="1"/>
          <p:nvPr>
            <p:ph idx="3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Обучение моделей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72" name="Google Shape;372;p34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373" name="Google Shape;373;p34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3400"/>
              <a:t>Формирование итоговой выборки</a:t>
            </a:r>
            <a:endParaRPr sz="3400"/>
          </a:p>
        </p:txBody>
      </p:sp>
      <p:sp>
        <p:nvSpPr>
          <p:cNvPr id="374" name="Google Shape;374;p34"/>
          <p:cNvSpPr txBox="1"/>
          <p:nvPr>
            <p:ph idx="3" type="body"/>
          </p:nvPr>
        </p:nvSpPr>
        <p:spPr>
          <a:xfrm>
            <a:off x="585900" y="2379675"/>
            <a:ext cx="110580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Для всех наблюдений в каждой продуктовой модели предсказываются вероятности принадлежности к положительному классу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Рассчитывается Expected Value = Predicted Proba * Product Value, где Product Value — константа в рамках каждого продукта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Наблюдения ранжируются по убыванию Expected Value и загружаются в дашборд, где с ними могут взаимодействовать бизнес-пользователи</a:t>
            </a:r>
            <a:endParaRPr sz="2000"/>
          </a:p>
        </p:txBody>
      </p:sp>
      <p:sp>
        <p:nvSpPr>
          <p:cNvPr id="375" name="Google Shape;375;p34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Обучение моделей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5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1" name="Google Shape;381;p35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382" name="Google Shape;382;p35"/>
          <p:cNvSpPr txBox="1"/>
          <p:nvPr>
            <p:ph type="title"/>
          </p:nvPr>
        </p:nvSpPr>
        <p:spPr>
          <a:xfrm>
            <a:off x="594248" y="3040490"/>
            <a:ext cx="10714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4600"/>
              <a:t>Демо дашборда</a:t>
            </a:r>
            <a:endParaRPr sz="4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6"/>
          <p:cNvSpPr txBox="1"/>
          <p:nvPr>
            <p:ph idx="3" type="body"/>
          </p:nvPr>
        </p:nvSpPr>
        <p:spPr>
          <a:xfrm>
            <a:off x="585900" y="2379675"/>
            <a:ext cx="110580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Реализовать класс MonthTimeSeriesSplit для возможности корректной оценки моделей с данными по месяцам по кросс-валидации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Улучшение визуализиции в дашборде в соответствии с возможными пользовательскими сценариями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Деплой приложения на сервер</a:t>
            </a:r>
            <a:endParaRPr sz="2000"/>
          </a:p>
        </p:txBody>
      </p:sp>
      <p:sp>
        <p:nvSpPr>
          <p:cNvPr id="388" name="Google Shape;388;p36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Департамент больших данных и информационного поиска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9" name="Google Shape;389;p36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Разработка модели предсказания релевантных продуктов и платежных методов</a:t>
            </a:r>
            <a:endParaRPr/>
          </a:p>
        </p:txBody>
      </p:sp>
      <p:sp>
        <p:nvSpPr>
          <p:cNvPr id="390" name="Google Shape;390;p36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3400"/>
              <a:t>В планах до 20 мая:</a:t>
            </a:r>
            <a:endParaRPr sz="3400"/>
          </a:p>
        </p:txBody>
      </p:sp>
      <p:sp>
        <p:nvSpPr>
          <p:cNvPr id="391" name="Google Shape;391;p36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Планы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